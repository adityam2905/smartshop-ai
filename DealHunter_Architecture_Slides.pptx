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 &amp; File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How the 5 modules connect — inputs, outputs, and data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9080" y="932688"/>
            <a:ext cx="9144" cy="58978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932688"/>
            <a:ext cx="9144" cy="58978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960120"/>
            <a:ext cx="365760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987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960120"/>
            <a:ext cx="3657600" cy="34747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987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02752" y="960120"/>
            <a:ext cx="36576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987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1389888"/>
            <a:ext cx="3657600" cy="2148840"/>
          </a:xfrm>
          <a:prstGeom prst="rect">
            <a:avLst/>
          </a:prstGeom>
          <a:solidFill>
            <a:srgbClr val="1E1B3A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" y="1389888"/>
            <a:ext cx="36576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1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📊  data_generator.py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1" y="17739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D399"/>
                </a:solidFill>
                <a:latin typeface="Calibri"/>
              </a:rPr>
              <a:t>Synthetic Data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48256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1" y="2084832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1" y="2276856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— (runs standalone)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084832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276856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product_listings.csv
5,000 rows × 11 cols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807208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1" y="285292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Generates 3,750 legit +
1,250 scam listings with
four RL feature columns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3703320"/>
            <a:ext cx="3657600" cy="2148840"/>
          </a:xfrm>
          <a:prstGeom prst="rect">
            <a:avLst/>
          </a:prstGeom>
          <a:solidFill>
            <a:srgbClr val="1E1B3A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4592" y="3703320"/>
            <a:ext cx="36576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1" y="3794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🏋️  shopping_env.py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1" y="40873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D399"/>
                </a:solidFill>
                <a:latin typeface="Calibri"/>
              </a:rPr>
              <a:t>Gym Training Environment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361688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1" y="4398264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1" y="4590288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product_listings.csv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398264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590288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obs (4-float array)
reward (float)
done (bool)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120640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1" y="51663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Implements reset() step()
render() per Gymnasium API
Shuffles data each episode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33672" y="1389888"/>
            <a:ext cx="3657600" cy="2148840"/>
          </a:xfrm>
          <a:prstGeom prst="rect">
            <a:avLst/>
          </a:prstGeom>
          <a:solidFill>
            <a:srgbClr val="1E1B3A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33672" y="1389888"/>
            <a:ext cx="3657600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0832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🧠  train_agent.py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17739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0A5FA"/>
                </a:solidFill>
                <a:latin typeface="Calibri"/>
              </a:rPr>
              <a:t>DQN Training &amp; Checkpoints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3400" y="2048256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2084832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832" y="2276856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ShoppingEnv (live)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2084832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276856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dqn_shopping_agent.zip
checkpoints/ (every 10k)
best_model/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2807208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70832" y="285292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DQN: MLP 128→128→64
100k timesteps, γ=0.95
ε: 1.0→0.05 over 30%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33672" y="3703320"/>
            <a:ext cx="3657600" cy="2148840"/>
          </a:xfrm>
          <a:prstGeom prst="rect">
            <a:avLst/>
          </a:prstGeom>
          <a:solidFill>
            <a:srgbClr val="1E1B3A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33672" y="3703320"/>
            <a:ext cx="3657600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70832" y="3794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🔍  scraper.py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0832" y="40873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0A5FA"/>
                </a:solidFill>
                <a:latin typeface="Calibri"/>
              </a:rPr>
              <a:t>Live Data Pipeline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3400" y="4361688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0832" y="4398264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INPUT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70832" y="4590288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User query string
(SerpAPI or mock)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398264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200" y="4590288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List of feature dicts
{norm_price, disc_pct,
trust_score, user_pref}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5120640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70832" y="51663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3-layer trust scoring:
DB lookup → TLD heuristic
→ keyword penalty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02752" y="1389888"/>
            <a:ext cx="3657600" cy="2148840"/>
          </a:xfrm>
          <a:prstGeom prst="rect">
            <a:avLst/>
          </a:prstGeom>
          <a:solidFill>
            <a:srgbClr val="1E1B3A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302752" y="1389888"/>
            <a:ext cx="3657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39912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🖥️  app.py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9912" y="17739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alibri"/>
              </a:rPr>
              <a:t>Streamlit UI + Feedback Loop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2048256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39912" y="2084832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INPUT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9912" y="2276856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dqn_shopping_agent.zip
scraper feature dicts
User Like / Dislike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0" y="2084832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0" y="2276856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Filtered product cards
Updated DQN (online)
Pref score adjustments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12480" y="2807208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39912" y="285292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Fine-tunes every 3 signals
+20 Like / −20 Dislike
injected to replay buffer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02752" y="3703320"/>
            <a:ext cx="3657600" cy="2148840"/>
          </a:xfrm>
          <a:prstGeom prst="rect">
            <a:avLst/>
          </a:prstGeom>
          <a:solidFill>
            <a:srgbClr val="1E1B3A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302752" y="3703320"/>
            <a:ext cx="3657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39912" y="3794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📁  product_listings.csv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39912" y="40873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alibri"/>
              </a:rPr>
              <a:t>Shared Data Contract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12480" y="4361688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39912" y="4398264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INPUT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39912" y="4590288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BD5E1"/>
                </a:solidFill>
                <a:latin typeface="Calibri"/>
              </a:rPr>
              <a:t>data_generator.py output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1280" y="4398264"/>
            <a:ext cx="167335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OUTPUT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4590288"/>
            <a:ext cx="167335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4D399"/>
                </a:solidFill>
                <a:latin typeface="Calibri"/>
              </a:rPr>
              <a:t>→ ShoppingEnv
→ train_agent.py
→ Evaluation runs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412480" y="5120640"/>
            <a:ext cx="3438144" cy="91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39912" y="51663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4A3B8"/>
                </a:solidFill>
                <a:latin typeface="Calibri"/>
              </a:rPr>
              <a:t>11 columns including
normalized_price, trust_score
discount_pct, is_scam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58768" y="2212848"/>
            <a:ext cx="347472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ctagon 80"/>
          <p:cNvSpPr/>
          <p:nvPr/>
        </p:nvSpPr>
        <p:spPr>
          <a:xfrm>
            <a:off x="4133087" y="2103120"/>
            <a:ext cx="164592" cy="274320"/>
          </a:xfrm>
          <a:prstGeom prst="octagon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58768" y="4526280"/>
            <a:ext cx="347472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ctagon 82"/>
          <p:cNvSpPr/>
          <p:nvPr/>
        </p:nvSpPr>
        <p:spPr>
          <a:xfrm>
            <a:off x="4133087" y="4416552"/>
            <a:ext cx="164592" cy="274320"/>
          </a:xfrm>
          <a:prstGeom prst="octagon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927848" y="2212848"/>
            <a:ext cx="34747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ctagon 84"/>
          <p:cNvSpPr/>
          <p:nvPr/>
        </p:nvSpPr>
        <p:spPr>
          <a:xfrm>
            <a:off x="8202168" y="2103120"/>
            <a:ext cx="164592" cy="274320"/>
          </a:xfrm>
          <a:prstGeom prst="octag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927848" y="4526280"/>
            <a:ext cx="34747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ctagon 86"/>
          <p:cNvSpPr/>
          <p:nvPr/>
        </p:nvSpPr>
        <p:spPr>
          <a:xfrm>
            <a:off x="8202168" y="4416552"/>
            <a:ext cx="164592" cy="274320"/>
          </a:xfrm>
          <a:prstGeom prst="octag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704320" y="6583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RL Pipeline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End-to-end journey: raw data → trained DQN → live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987552"/>
            <a:ext cx="11859768" cy="256032"/>
          </a:xfrm>
          <a:prstGeom prst="rect">
            <a:avLst/>
          </a:prstGeom>
          <a:solidFill>
            <a:srgbClr val="16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996696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🔁  TRAINING PIPELINE  (offline, runs once via train_agent.py)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298448"/>
            <a:ext cx="2011680" cy="1371600"/>
          </a:xfrm>
          <a:prstGeom prst="rect">
            <a:avLst/>
          </a:prstGeom>
          <a:solidFill>
            <a:srgbClr val="1E1B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1298448"/>
            <a:ext cx="20116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38988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📊 Synthetic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737360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5,000 listings
25% scam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1298448"/>
            <a:ext cx="2011680" cy="1371600"/>
          </a:xfrm>
          <a:prstGeom prst="rect">
            <a:avLst/>
          </a:prstGeom>
          <a:solidFill>
            <a:srgbClr val="1E1B3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3160" y="1298448"/>
            <a:ext cx="201168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38988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🏋️ ShoppingEnv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737360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Gymnasium
reset() / step()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298448"/>
            <a:ext cx="2011680" cy="1371600"/>
          </a:xfrm>
          <a:prstGeom prst="rect">
            <a:avLst/>
          </a:prstGeom>
          <a:solidFill>
            <a:srgbClr val="1E1B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1298448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138988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🎲 DQN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1737360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ε-greedy
exploration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1298448"/>
            <a:ext cx="2011680" cy="1371600"/>
          </a:xfrm>
          <a:prstGeom prst="rect">
            <a:avLst/>
          </a:prstGeom>
          <a:solidFill>
            <a:srgbClr val="1E1B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1298448"/>
            <a:ext cx="20116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59" y="138988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⚖️ Reward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1737360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−100 scam
+(disc×20) legit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298448"/>
            <a:ext cx="2011680" cy="1371600"/>
          </a:xfrm>
          <a:prstGeom prst="rect">
            <a:avLst/>
          </a:prstGeom>
          <a:solidFill>
            <a:srgbClr val="1E1B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298448"/>
            <a:ext cx="20116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1389888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💾 Saved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737360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dqn_shopping
_agent.zip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12848" y="1947672"/>
            <a:ext cx="201168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ctagon 28"/>
          <p:cNvSpPr/>
          <p:nvPr/>
        </p:nvSpPr>
        <p:spPr>
          <a:xfrm>
            <a:off x="2368296" y="1847088"/>
            <a:ext cx="118872" cy="274320"/>
          </a:xfrm>
          <a:prstGeom prst="octagon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53128" y="1947672"/>
            <a:ext cx="201168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ctagon 30"/>
          <p:cNvSpPr/>
          <p:nvPr/>
        </p:nvSpPr>
        <p:spPr>
          <a:xfrm>
            <a:off x="4608576" y="1847088"/>
            <a:ext cx="118872" cy="274320"/>
          </a:xfrm>
          <a:prstGeom prst="octagon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93408" y="1947672"/>
            <a:ext cx="201168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ctagon 32"/>
          <p:cNvSpPr/>
          <p:nvPr/>
        </p:nvSpPr>
        <p:spPr>
          <a:xfrm>
            <a:off x="6848856" y="1847088"/>
            <a:ext cx="118872" cy="274320"/>
          </a:xfrm>
          <a:prstGeom prst="octagon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33688" y="1947672"/>
            <a:ext cx="201168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ctagon 34"/>
          <p:cNvSpPr/>
          <p:nvPr/>
        </p:nvSpPr>
        <p:spPr>
          <a:xfrm>
            <a:off x="9089136" y="1847088"/>
            <a:ext cx="118872" cy="274320"/>
          </a:xfrm>
          <a:prstGeom prst="octagon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63440" y="2798064"/>
            <a:ext cx="2011680" cy="566928"/>
          </a:xfrm>
          <a:prstGeom prst="rect">
            <a:avLst/>
          </a:prstGeom>
          <a:solidFill>
            <a:srgbClr val="1E1B4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8163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alibri"/>
              </a:rPr>
              <a:t>🗂  Replay Buffer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017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50,000 exp. · batch 128
breaks temporal correlation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3429000"/>
            <a:ext cx="11859768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4592" y="3474720"/>
            <a:ext cx="11859768" cy="256032"/>
          </a:xfrm>
          <a:prstGeom prst="rect">
            <a:avLst/>
          </a:prstGeom>
          <a:solidFill>
            <a:srgbClr val="16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" y="3483864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🚀  INFERENCE PIPELINE  (live, runs on every Streamlit search)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3794760"/>
            <a:ext cx="2011680" cy="1371600"/>
          </a:xfrm>
          <a:prstGeom prst="rect">
            <a:avLst/>
          </a:prstGeom>
          <a:solidFill>
            <a:srgbClr val="1E1B3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" y="3794760"/>
            <a:ext cx="201168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38862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🔎 User Query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233672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e.g. 'Sony
Headphones'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23160" y="3794760"/>
            <a:ext cx="2011680" cy="1371600"/>
          </a:xfrm>
          <a:prstGeom prst="rect">
            <a:avLst/>
          </a:prstGeom>
          <a:solidFill>
            <a:srgbClr val="1E1B3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423160" y="3794760"/>
            <a:ext cx="2011680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14600" y="38862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🌐 scraper.py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233672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SerpAPI fetch
or mock 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3794760"/>
            <a:ext cx="2011680" cy="1371600"/>
          </a:xfrm>
          <a:prstGeom prst="rect">
            <a:avLst/>
          </a:prstGeom>
          <a:solidFill>
            <a:srgbClr val="1E1B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63440" y="3794760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79" y="38862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⚙️ Feature Eng.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79" y="4233672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4-float obs
trust scoring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03720" y="3794760"/>
            <a:ext cx="2011680" cy="1371600"/>
          </a:xfrm>
          <a:prstGeom prst="rect">
            <a:avLst/>
          </a:prstGeom>
          <a:solidFill>
            <a:srgbClr val="1E1B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903720" y="3794760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95159" y="38862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🤖 DQN Predict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5159" y="4233672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model.predict
(deterministic)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0" y="3794760"/>
            <a:ext cx="2011680" cy="1371600"/>
          </a:xfrm>
          <a:prstGeom prst="rect">
            <a:avLst/>
          </a:prstGeom>
          <a:solidFill>
            <a:srgbClr val="1E1B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44000" y="3794760"/>
            <a:ext cx="201168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35440" y="38862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🛍️ Streamlit UI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5440" y="4233672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  <a:latin typeface="Calibri"/>
              </a:rPr>
              <a:t>Action=1 cards
👍👎 feedback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12848" y="4443984"/>
            <a:ext cx="201168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ctagon 62"/>
          <p:cNvSpPr/>
          <p:nvPr/>
        </p:nvSpPr>
        <p:spPr>
          <a:xfrm>
            <a:off x="2368296" y="4343400"/>
            <a:ext cx="118872" cy="274320"/>
          </a:xfrm>
          <a:prstGeom prst="octag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53128" y="4443984"/>
            <a:ext cx="201168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ctagon 64"/>
          <p:cNvSpPr/>
          <p:nvPr/>
        </p:nvSpPr>
        <p:spPr>
          <a:xfrm>
            <a:off x="4608576" y="4343400"/>
            <a:ext cx="118872" cy="274320"/>
          </a:xfrm>
          <a:prstGeom prst="octag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693408" y="4443984"/>
            <a:ext cx="201168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ctagon 66"/>
          <p:cNvSpPr/>
          <p:nvPr/>
        </p:nvSpPr>
        <p:spPr>
          <a:xfrm>
            <a:off x="6848856" y="4343400"/>
            <a:ext cx="118872" cy="274320"/>
          </a:xfrm>
          <a:prstGeom prst="octag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933688" y="4443984"/>
            <a:ext cx="201168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ctagon 68"/>
          <p:cNvSpPr/>
          <p:nvPr/>
        </p:nvSpPr>
        <p:spPr>
          <a:xfrm>
            <a:off x="9089136" y="4343400"/>
            <a:ext cx="118872" cy="274320"/>
          </a:xfrm>
          <a:prstGeom prst="octagon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663440" y="4892040"/>
            <a:ext cx="2011680" cy="685800"/>
          </a:xfrm>
          <a:prstGeom prst="rect">
            <a:avLst/>
          </a:prstGeom>
          <a:solidFill>
            <a:srgbClr val="1E1B4B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49103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A5FA"/>
                </a:solidFill>
                <a:latin typeface="Calibri"/>
              </a:rPr>
              <a:t>📐  State Vector (obs)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54880" y="512064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[norm_price, disc_pct,
 trust_score, user_pref]
dtype: float32 shape(4,)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03720" y="4892040"/>
            <a:ext cx="2011680" cy="685800"/>
          </a:xfrm>
          <a:prstGeom prst="rect">
            <a:avLst/>
          </a:prstGeom>
          <a:solidFill>
            <a:srgbClr val="2D141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95160" y="491032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🚨  Hard Override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95160" y="512064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BD5E1"/>
                </a:solidFill>
                <a:latin typeface="Calibri"/>
              </a:rPr>
              <a:t>trust &lt; 0.30
→ always block
regardless of DQN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4592" y="6309360"/>
            <a:ext cx="11859768" cy="475488"/>
          </a:xfrm>
          <a:prstGeom prst="rect">
            <a:avLst/>
          </a:prstGeom>
          <a:solidFill>
            <a:srgbClr val="16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4592" y="6309360"/>
            <a:ext cx="45720" cy="47548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1751" y="6327648"/>
            <a:ext cx="278206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0A5FA"/>
                </a:solidFill>
                <a:latin typeface="Calibri"/>
              </a:rPr>
              <a:t>Obs Space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01751" y="6501384"/>
            <a:ext cx="278206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Box([0,0,0,0],[2,1,1,1])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129534" y="6309360"/>
            <a:ext cx="45720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66694" y="6327648"/>
            <a:ext cx="278206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ED"/>
                </a:solidFill>
                <a:latin typeface="Calibri"/>
              </a:rPr>
              <a:t>Action Space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66694" y="6501384"/>
            <a:ext cx="278206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Discrete(2) — Skip / Recommend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94476" y="6309360"/>
            <a:ext cx="45720" cy="4754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31636" y="6327648"/>
            <a:ext cx="278206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4D399"/>
                </a:solidFill>
                <a:latin typeface="Calibri"/>
              </a:rPr>
              <a:t>Net Arch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31636" y="6501384"/>
            <a:ext cx="278206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4 → 128 → 128 → 64 → 2  (MLP)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59418" y="6309360"/>
            <a:ext cx="45720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96578" y="6327648"/>
            <a:ext cx="278206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BBF24"/>
                </a:solidFill>
                <a:latin typeface="Calibri"/>
              </a:rPr>
              <a:t>Training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96578" y="6501384"/>
            <a:ext cx="278206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  <a:latin typeface="Calibri"/>
              </a:rPr>
              <a:t>100k steps · γ=0.95 · ε 1.0→0.05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6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Reward Function &amp; Online 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What the agent optimises · How it adapts to you in real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87552"/>
            <a:ext cx="1485900" cy="246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REWARD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325880"/>
            <a:ext cx="56692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38074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BD5E1"/>
                </a:solidFill>
                <a:latin typeface="Calibri"/>
              </a:rP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8074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BD5E1"/>
                </a:solidFill>
                <a:latin typeface="Calibri"/>
              </a:rPr>
              <a:t>CONDITION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380744"/>
            <a:ext cx="1463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BD5E1"/>
                </a:solidFill>
                <a:latin typeface="Calibri"/>
              </a:rPr>
              <a:t>REWARD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645919"/>
            <a:ext cx="5669280" cy="621792"/>
          </a:xfrm>
          <a:prstGeom prst="rect">
            <a:avLst/>
          </a:prstGeom>
          <a:solidFill>
            <a:srgbClr val="2D1414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1810511"/>
            <a:ext cx="1005840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810511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C29"/>
                </a:solidFill>
                <a:latin typeface="Calibri"/>
              </a:rPr>
              <a:t>RECOMMEND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755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site_trust_score &lt; 0.3  (SCAM)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755648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−100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304287"/>
            <a:ext cx="5669280" cy="621792"/>
          </a:xfrm>
          <a:prstGeom prst="rect">
            <a:avLst/>
          </a:prstGeom>
          <a:solidFill>
            <a:srgbClr val="1E1B3A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2468879"/>
            <a:ext cx="1005840" cy="2743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246887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C29"/>
                </a:solidFill>
                <a:latin typeface="Calibri"/>
              </a:rPr>
              <a:t>RECOMMEND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414015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site_trust_score ≥ 0.3  (Legit)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41401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(disc × 20) + feedback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962656"/>
            <a:ext cx="5669280" cy="621792"/>
          </a:xfrm>
          <a:prstGeom prst="rect">
            <a:avLst/>
          </a:prstGeom>
          <a:solidFill>
            <a:srgbClr val="142D1A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3127248"/>
            <a:ext cx="100584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3127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C29"/>
                </a:solidFill>
                <a:latin typeface="Calibri"/>
              </a:rPr>
              <a:t>SKIP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0723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site_trust_score &lt; 0.3  (Scam avoided)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072384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4D399"/>
                </a:solidFill>
                <a:latin typeface="Calibri"/>
              </a:rPr>
              <a:t>+10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621024"/>
            <a:ext cx="5669280" cy="621792"/>
          </a:xfrm>
          <a:prstGeom prst="rect">
            <a:avLst/>
          </a:prstGeom>
          <a:solidFill>
            <a:srgbClr val="1E1B3A"/>
          </a:solidFill>
          <a:ln w="63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3785615"/>
            <a:ext cx="100584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3785615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F0C29"/>
                </a:solidFill>
                <a:latin typeface="Calibri"/>
              </a:rPr>
              <a:t>SKIP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7307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site_trust_score ≥ 0.3  (Missed deal)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73075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  <a:latin typeface="Calibri"/>
              </a:rPr>
              <a:t>−5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325112"/>
            <a:ext cx="5669280" cy="594360"/>
          </a:xfrm>
          <a:prstGeom prst="rect">
            <a:avLst/>
          </a:prstGeom>
          <a:solidFill>
            <a:srgbClr val="1E1B3A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" y="4352544"/>
            <a:ext cx="54864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BD5E1"/>
                </a:solidFill>
                <a:latin typeface="Calibri"/>
              </a:rPr>
              <a:t>⚡  Why −100?  The catastrophic penalty for recommending a scam forces the
agent to treat fraud avoidance as its #1 priority — even over missing every
good deal. The asymmetry is intentional.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987552"/>
            <a:ext cx="1920240" cy="2468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1005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ONLINE LEARNING LOOP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353312"/>
            <a:ext cx="3246120" cy="594360"/>
          </a:xfrm>
          <a:prstGeom prst="rect">
            <a:avLst/>
          </a:prstGeom>
          <a:solidFill>
            <a:srgbClr val="1E1B3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1353312"/>
            <a:ext cx="54864" cy="5943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1490472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🔍 User searches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084831"/>
            <a:ext cx="3246120" cy="594360"/>
          </a:xfrm>
          <a:prstGeom prst="rect">
            <a:avLst/>
          </a:prstGeom>
          <a:solidFill>
            <a:srgbClr val="1E1B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084831"/>
            <a:ext cx="54864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221991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🤖 DQN recommends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2816352"/>
            <a:ext cx="3246120" cy="594360"/>
          </a:xfrm>
          <a:prstGeom prst="rect">
            <a:avLst/>
          </a:prstGeom>
          <a:solidFill>
            <a:srgbClr val="1E1B3A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816352"/>
            <a:ext cx="54864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2953512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🛍️ Product displayed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547872"/>
            <a:ext cx="3246120" cy="594360"/>
          </a:xfrm>
          <a:prstGeom prst="rect">
            <a:avLst/>
          </a:prstGeom>
          <a:solidFill>
            <a:srgbClr val="1E1B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3547872"/>
            <a:ext cx="54864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685032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👍 / 👎 User feedback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279392"/>
            <a:ext cx="3246120" cy="594360"/>
          </a:xfrm>
          <a:prstGeom prst="rect">
            <a:avLst/>
          </a:prstGeom>
          <a:solidFill>
            <a:srgbClr val="1E1B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4279392"/>
            <a:ext cx="54864" cy="594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416552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📦 Experience buffered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010912"/>
            <a:ext cx="3246120" cy="594360"/>
          </a:xfrm>
          <a:prstGeom prst="rect">
            <a:avLst/>
          </a:prstGeom>
          <a:solidFill>
            <a:srgbClr val="1E1B3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5010912"/>
            <a:ext cx="54864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148072"/>
            <a:ext cx="30632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🔁 Fine-tune (50 grad steps)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99248" y="1947672"/>
            <a:ext cx="54864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607808" y="2039112"/>
            <a:ext cx="237744" cy="1371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699248" y="2679191"/>
            <a:ext cx="54864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607808" y="2770632"/>
            <a:ext cx="237744" cy="1371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699248" y="3410712"/>
            <a:ext cx="54864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607808" y="3502152"/>
            <a:ext cx="237744" cy="1371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99248" y="4142232"/>
            <a:ext cx="54864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607808" y="4233672"/>
            <a:ext cx="237744" cy="1371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99248" y="4873752"/>
            <a:ext cx="54864" cy="1371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607808" y="4965192"/>
            <a:ext cx="237744" cy="1371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546336" y="1828800"/>
            <a:ext cx="54864" cy="378561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17536" y="1828800"/>
            <a:ext cx="1883664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17536" y="5605272"/>
            <a:ext cx="1883664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19488" y="3200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34D399"/>
                </a:solidFill>
                <a:latin typeface="Calibri"/>
              </a:rPr>
              <a:t>↺  model updated
every 3 signals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72200" y="5742432"/>
            <a:ext cx="5852160" cy="1005840"/>
          </a:xfrm>
          <a:prstGeom prst="rect">
            <a:avLst/>
          </a:prstGeom>
          <a:solidFill>
            <a:srgbClr val="16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Key Hyperparameters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63640" y="6071616"/>
            <a:ext cx="54864" cy="2560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60716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0A5FA"/>
                </a:solidFill>
                <a:latin typeface="Calibri"/>
              </a:rPr>
              <a:t>γ = 0.95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05472" y="6071616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discount factor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83879" y="6071616"/>
            <a:ext cx="54864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93607" y="60716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C3AED"/>
                </a:solidFill>
                <a:latin typeface="Calibri"/>
              </a:rPr>
              <a:t>ε 1.0→0.05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25711" y="6071616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exploration decay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104120" y="6071616"/>
            <a:ext cx="54864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213848" y="60716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4D399"/>
                </a:solidFill>
                <a:latin typeface="Calibri"/>
              </a:rPr>
              <a:t>buf = 50,000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45952" y="6071616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replay buffer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63640" y="6419088"/>
            <a:ext cx="54864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73368" y="64190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batch = 128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05472" y="641908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mini-batch size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83879" y="6419088"/>
            <a:ext cx="54864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3607" y="64190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lr = 1e-3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25711" y="641908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Adam LR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04120" y="6419088"/>
            <a:ext cx="54864" cy="2560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13848" y="64190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BD5E1"/>
                </a:solidFill>
                <a:latin typeface="Calibri"/>
              </a:rPr>
              <a:t>τ = hard/500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45952" y="6419088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target net sync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704320" y="66294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